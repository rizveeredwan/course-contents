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9144000"/>
  <p:notesSz cx="6997700" cy="9283700"/>
  <p:embeddedFontLst>
    <p:embeddedFont>
      <p:font typeface="Helvetica Neue"/>
      <p:regular r:id="rId55"/>
      <p:bold r:id="rId56"/>
      <p:italic r:id="rId57"/>
      <p:boldItalic r:id="rId58"/>
    </p:embeddedFont>
    <p:embeddedFont>
      <p:font typeface="Roboto Mon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hUX0JMtvC0+7qN1OUZTG3WYXxb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476FE4-6D62-4051-835A-60A6AF85B0F3}">
  <a:tblStyle styleId="{BD476FE4-6D62-4051-835A-60A6AF85B0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7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on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c79a5a5df_0_21:notes"/>
          <p:cNvSpPr/>
          <p:nvPr>
            <p:ph idx="2" type="sldImg"/>
          </p:nvPr>
        </p:nvSpPr>
        <p:spPr>
          <a:xfrm>
            <a:off x="1177925" y="696913"/>
            <a:ext cx="4641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c79a5a5df_0_21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6c79a5a5df_0_21:notes"/>
          <p:cNvSpPr txBox="1"/>
          <p:nvPr>
            <p:ph idx="12" type="sldNum"/>
          </p:nvPr>
        </p:nvSpPr>
        <p:spPr>
          <a:xfrm>
            <a:off x="3965575" y="8820150"/>
            <a:ext cx="3032100" cy="463500"/>
          </a:xfrm>
          <a:prstGeom prst="rect">
            <a:avLst/>
          </a:prstGeom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bf5fe6ea5_0_0:notes"/>
          <p:cNvSpPr/>
          <p:nvPr>
            <p:ph idx="2" type="sldImg"/>
          </p:nvPr>
        </p:nvSpPr>
        <p:spPr>
          <a:xfrm>
            <a:off x="1177925" y="696913"/>
            <a:ext cx="4641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bf5fe6ea5_0_0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6bf5fe6ea5_0_0:notes"/>
          <p:cNvSpPr txBox="1"/>
          <p:nvPr>
            <p:ph idx="12" type="sldNum"/>
          </p:nvPr>
        </p:nvSpPr>
        <p:spPr>
          <a:xfrm>
            <a:off x="3965575" y="8820150"/>
            <a:ext cx="3032100" cy="463500"/>
          </a:xfrm>
          <a:prstGeom prst="rect">
            <a:avLst/>
          </a:prstGeom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bf5fe6ea5_0_11:notes"/>
          <p:cNvSpPr/>
          <p:nvPr>
            <p:ph idx="2" type="sldImg"/>
          </p:nvPr>
        </p:nvSpPr>
        <p:spPr>
          <a:xfrm>
            <a:off x="1177925" y="696913"/>
            <a:ext cx="4641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bf5fe6ea5_0_11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6bf5fe6ea5_0_11:notes"/>
          <p:cNvSpPr txBox="1"/>
          <p:nvPr>
            <p:ph idx="12" type="sldNum"/>
          </p:nvPr>
        </p:nvSpPr>
        <p:spPr>
          <a:xfrm>
            <a:off x="3965575" y="8820150"/>
            <a:ext cx="3032100" cy="463500"/>
          </a:xfrm>
          <a:prstGeom prst="rect">
            <a:avLst/>
          </a:prstGeom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3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3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3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3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3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3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45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45:notes"/>
          <p:cNvSpPr txBox="1"/>
          <p:nvPr>
            <p:ph idx="1" type="body"/>
          </p:nvPr>
        </p:nvSpPr>
        <p:spPr>
          <a:xfrm>
            <a:off x="931146" y="4410702"/>
            <a:ext cx="5135409" cy="41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 txBox="1"/>
          <p:nvPr/>
        </p:nvSpPr>
        <p:spPr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7</a:t>
            </a:r>
            <a:r>
              <a:rPr b="1" baseline="30000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lang="en-US" sz="1200" u="sng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www.db-book.com</a:t>
            </a: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sp>
        <p:nvSpPr>
          <p:cNvPr id="21" name="Google Shape;21;p47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23" name="Google Shape;2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" type="body"/>
          </p:nvPr>
        </p:nvSpPr>
        <p:spPr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345" lvl="0" marL="45720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  <a:defRPr sz="1700"/>
            </a:lvl1pPr>
            <a:lvl2pPr indent="-347344" lvl="1" marL="91440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Char char="•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Font typeface="Noto Sans Symbols"/>
              <a:buChar char="▪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Font typeface="Arial"/>
              <a:buChar char="•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Noto Sans Symbols"/>
              <a:buChar char="▪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>
  <p:cSld name="2_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0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33" name="Google Shape;3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859" y="1"/>
            <a:ext cx="736829" cy="94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71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37" name="Google Shape;37;p51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41" name="Google Shape;41;p5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501590" y="-411163"/>
            <a:ext cx="807424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6" name="Google Shape;46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7" name="Google Shape;47;p5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8" name="Google Shape;48;p5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5" name="Google Shape;55;p5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6" name="Google Shape;56;p55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61" name="Google Shape;61;p56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7"/>
          <p:cNvSpPr txBox="1"/>
          <p:nvPr>
            <p:ph idx="1" type="body"/>
          </p:nvPr>
        </p:nvSpPr>
        <p:spPr>
          <a:xfrm rot="5400000">
            <a:off x="2170113" y="-307975"/>
            <a:ext cx="4903787" cy="770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5" name="Google Shape;65;p57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8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8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9" name="Google Shape;69;p58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95"/>
              </a:spcBef>
              <a:spcAft>
                <a:spcPts val="0"/>
              </a:spcAft>
              <a:buSzPts val="1700"/>
              <a:buNone/>
              <a:defRPr/>
            </a:lvl1pPr>
            <a:lvl2pPr lvl="1" algn="ctr">
              <a:spcBef>
                <a:spcPts val="595"/>
              </a:spcBef>
              <a:spcAft>
                <a:spcPts val="0"/>
              </a:spcAft>
              <a:buSzPts val="1615"/>
              <a:buNone/>
              <a:defRPr/>
            </a:lvl2pPr>
            <a:lvl3pPr lvl="2" algn="ctr">
              <a:spcBef>
                <a:spcPts val="595"/>
              </a:spcBef>
              <a:spcAft>
                <a:spcPts val="0"/>
              </a:spcAft>
              <a:buSzPts val="1445"/>
              <a:buNone/>
              <a:defRPr/>
            </a:lvl3pPr>
            <a:lvl4pPr lvl="3" algn="ctr">
              <a:spcBef>
                <a:spcPts val="595"/>
              </a:spcBef>
              <a:spcAft>
                <a:spcPts val="0"/>
              </a:spcAft>
              <a:buSzPts val="1700"/>
              <a:buNone/>
              <a:defRPr/>
            </a:lvl4pPr>
            <a:lvl5pPr lvl="4" algn="ctr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None/>
              <a:defRPr/>
            </a:lvl5pPr>
            <a:lvl6pPr lvl="5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6pPr>
            <a:lvl7pPr lvl="6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7pPr>
            <a:lvl8pPr lvl="7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8pPr>
            <a:lvl9pPr lvl="8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idx="1" type="body"/>
          </p:nvPr>
        </p:nvSpPr>
        <p:spPr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marR="0" rtl="0" algn="l">
              <a:spcBef>
                <a:spcPts val="595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1152" lvl="1" marL="914400" marR="0" rtl="0" algn="l">
              <a:spcBef>
                <a:spcPts val="595"/>
              </a:spcBef>
              <a:spcAft>
                <a:spcPts val="0"/>
              </a:spcAft>
              <a:buClr>
                <a:schemeClr val="folHlink"/>
              </a:buClr>
              <a:buSzPts val="1615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0357" lvl="2" marL="1371600" marR="0" rtl="0" algn="l">
              <a:spcBef>
                <a:spcPts val="595"/>
              </a:spcBef>
              <a:spcAft>
                <a:spcPts val="0"/>
              </a:spcAft>
              <a:buClr>
                <a:srgbClr val="33CC33"/>
              </a:buClr>
              <a:buSzPts val="1445"/>
              <a:buFont typeface="Arimo"/>
              <a:buChar char="4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6550" lvl="3" marL="1828800" marR="0" rtl="0" algn="l">
              <a:spcBef>
                <a:spcPts val="595"/>
              </a:spcBef>
              <a:spcAft>
                <a:spcPts val="0"/>
              </a:spcAft>
              <a:buClr>
                <a:schemeClr val="hlink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9562" lvl="4" marL="2286000" marR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275"/>
              <a:buFont typeface="Helvetica Neue"/>
              <a:buChar char="»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46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3" name="Google Shape;13;p46"/>
          <p:cNvSpPr txBox="1"/>
          <p:nvPr/>
        </p:nvSpPr>
        <p:spPr>
          <a:xfrm>
            <a:off x="4444718" y="6613525"/>
            <a:ext cx="5180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20.</a:t>
            </a:r>
            <a:fld id="{00000000-1234-1234-1234-123412341234}" type="slidenum"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46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46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- 7</a:t>
            </a:r>
            <a:r>
              <a:rPr b="1" baseline="30000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16" name="Google Shape;16;p46"/>
          <p:cNvSpPr/>
          <p:nvPr/>
        </p:nvSpPr>
        <p:spPr>
          <a:xfrm>
            <a:off x="8916988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ver-6Ed" id="17" name="Google Shape;17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46"/>
          <p:cNvCxnSpPr/>
          <p:nvPr/>
        </p:nvCxnSpPr>
        <p:spPr>
          <a:xfrm>
            <a:off x="812732" y="801209"/>
            <a:ext cx="7707313" cy="0"/>
          </a:xfrm>
          <a:prstGeom prst="straightConnector1">
            <a:avLst/>
          </a:prstGeom>
          <a:noFill/>
          <a:ln cap="flat" cmpd="sng" w="19050">
            <a:solidFill>
              <a:srgbClr val="0047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ctrTitle"/>
          </p:nvPr>
        </p:nvSpPr>
        <p:spPr>
          <a:xfrm>
            <a:off x="0" y="2286000"/>
            <a:ext cx="9144000" cy="1268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Chapter 20: Database System Architectures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86" name="Google Shape;86;p2"/>
          <p:cNvSpPr txBox="1"/>
          <p:nvPr>
            <p:ph idx="1" type="body"/>
          </p:nvPr>
        </p:nvSpPr>
        <p:spPr>
          <a:xfrm>
            <a:off x="674702" y="1102497"/>
            <a:ext cx="8170847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Centralized Database Systems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Server System Architectures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Systems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Distributed Systems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Network Types</a:t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538288" y="6461125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Centralized Database Systems</a:t>
            </a:r>
            <a:endParaRPr/>
          </a:p>
        </p:txBody>
      </p:sp>
      <p:sp>
        <p:nvSpPr>
          <p:cNvPr id="94" name="Google Shape;94;p3"/>
          <p:cNvSpPr txBox="1"/>
          <p:nvPr>
            <p:ph idx="1" type="body"/>
          </p:nvPr>
        </p:nvSpPr>
        <p:spPr>
          <a:xfrm>
            <a:off x="674700" y="1102500"/>
            <a:ext cx="7921200" cy="5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Run on a </a:t>
            </a:r>
            <a:r>
              <a:rPr b="1" lang="en-US"/>
              <a:t>single computer system</a:t>
            </a:r>
            <a:endParaRPr b="1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Single-user system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Multi-user systems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also known as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 systems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Service requests received from client systems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Multi-core systems with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coarse-grained parallelism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Typically, a few to tens of processor cores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 contrast, </a:t>
            </a:r>
            <a:r>
              <a:rPr b="1" lang="en-US">
                <a:solidFill>
                  <a:srgbClr val="002060"/>
                </a:solidFill>
              </a:rPr>
              <a:t>fine-grained parallelism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uses very large number of computers or nodes [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r>
              <a:rPr i="1" lang="en-US"/>
              <a:t>t belong to centralized database systems, rather distributed database systems</a:t>
            </a:r>
            <a:r>
              <a:rPr lang="en-US"/>
              <a:t>]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5" name="Google Shape;95;p3"/>
          <p:cNvGraphicFramePr/>
          <p:nvPr/>
        </p:nvGraphicFramePr>
        <p:xfrm>
          <a:off x="598850" y="413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{BD476FE4-6D62-4051-835A-60A6AF85B0F3}</a:tableStyleId>
              </a:tblPr>
              <a:tblGrid>
                <a:gridCol w="3203850"/>
                <a:gridCol w="403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206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coarse-grained parallelism</a:t>
                      </a:r>
                      <a:endParaRPr sz="17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Few big tasks across 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few (4–64) CPU cores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206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fine-grained parallelism</a:t>
                      </a:r>
                      <a:endParaRPr b="1" sz="1700">
                        <a:solidFill>
                          <a:srgbClr val="00206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Many tiny tasks across 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many machines or processors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3"/>
          <p:cNvSpPr txBox="1"/>
          <p:nvPr/>
        </p:nvSpPr>
        <p:spPr>
          <a:xfrm>
            <a:off x="4985050" y="1000125"/>
            <a:ext cx="3818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centralized database system</a:t>
            </a:r>
            <a:r>
              <a:rPr i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that </a:t>
            </a:r>
            <a:r>
              <a:rPr b="1" i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all data is stored, managed, and processed on a single centralized server or system</a:t>
            </a:r>
            <a:endParaRPr i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348100" y="5472550"/>
            <a:ext cx="8455500" cy="109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Horizontal scaling (Scale out) : increasing 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 of machines/nodes in the cluster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Vertical scaling (Scale Up): increasing the number of CPUs, RAM, Storage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Server System Architecture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665825" y="1102497"/>
            <a:ext cx="7732451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Server systems can be broadly categorized into two kinds: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servers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Widely used in relational database systems, and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Ensure ACID Properties: </a:t>
            </a:r>
            <a:r>
              <a:rPr i="1" lang="en-US"/>
              <a:t>Consistency, Atomicity, Isolation</a:t>
            </a:r>
            <a:r>
              <a:rPr lang="en-US"/>
              <a:t>, and </a:t>
            </a:r>
            <a:r>
              <a:rPr i="1" lang="en-US"/>
              <a:t>Durability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servers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data servers used to implement high-performance transaction processing systems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768350" y="41275"/>
            <a:ext cx="768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Transaction Servers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101300" y="865200"/>
            <a:ext cx="88323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Also called </a:t>
            </a:r>
            <a:r>
              <a:rPr b="1" lang="en-US" sz="15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server</a:t>
            </a:r>
            <a:r>
              <a:rPr lang="en-US" sz="15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systems or SQL</a:t>
            </a:r>
            <a:r>
              <a:rPr i="1" lang="en-US" sz="1500">
                <a:latin typeface="Helvetica Neue"/>
                <a:ea typeface="Helvetica Neue"/>
                <a:cs typeface="Helvetica Neue"/>
                <a:sym typeface="Helvetica Neue"/>
              </a:rPr>
              <a:t> server</a:t>
            </a: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 systems</a:t>
            </a:r>
            <a:endParaRPr sz="1500"/>
          </a:p>
          <a:p>
            <a:pPr indent="-262255" lvl="1" marL="742950" rtl="0" algn="l">
              <a:spcBef>
                <a:spcPts val="595"/>
              </a:spcBef>
              <a:spcAft>
                <a:spcPts val="0"/>
              </a:spcAft>
              <a:buSzPts val="1500"/>
              <a:buChar char="•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Clients send requests to the server</a:t>
            </a:r>
            <a:endParaRPr sz="1500"/>
          </a:p>
          <a:p>
            <a:pPr indent="-262255" lvl="1" marL="742950" rtl="0" algn="l">
              <a:spcBef>
                <a:spcPts val="595"/>
              </a:spcBef>
              <a:spcAft>
                <a:spcPts val="0"/>
              </a:spcAft>
              <a:buSzPts val="1500"/>
              <a:buChar char="•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Transactions are executed at the server</a:t>
            </a:r>
            <a:endParaRPr sz="1500"/>
          </a:p>
          <a:p>
            <a:pPr indent="-262255" lvl="1" marL="742950" rtl="0" algn="l">
              <a:spcBef>
                <a:spcPts val="595"/>
              </a:spcBef>
              <a:spcAft>
                <a:spcPts val="0"/>
              </a:spcAft>
              <a:buSzPts val="1500"/>
              <a:buChar char="•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Results are shipped back to the client.</a:t>
            </a:r>
            <a:endParaRPr sz="1500"/>
          </a:p>
          <a:p>
            <a:pPr indent="-330200" lvl="0" marL="342900" rtl="0" algn="l">
              <a:spcBef>
                <a:spcPts val="595"/>
              </a:spcBef>
              <a:spcAft>
                <a:spcPts val="0"/>
              </a:spcAft>
              <a:buSzPts val="1500"/>
              <a:buChar char="▪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Requests are specified in SQL and communicated to the server through a </a:t>
            </a:r>
            <a:r>
              <a:rPr i="1" lang="en-US" sz="1500">
                <a:latin typeface="Helvetica Neue"/>
                <a:ea typeface="Helvetica Neue"/>
                <a:cs typeface="Helvetica Neue"/>
                <a:sym typeface="Helvetica Neue"/>
              </a:rPr>
              <a:t>remote procedure call </a:t>
            </a: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(RPC) mechanism.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2255" lvl="1" marL="742950" rtl="0" algn="l">
              <a:spcBef>
                <a:spcPts val="595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SQL: SELECT * FROM Orders WHERE CustomerID = 5;</a:t>
            </a:r>
            <a:endParaRPr sz="1500"/>
          </a:p>
          <a:p>
            <a:pPr indent="-262255" lvl="1" marL="742950" rtl="0" algn="l">
              <a:spcBef>
                <a:spcPts val="595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RPC: Call executeSQL("SELECT * FROM Orders WHERE CustomerID = 5")</a:t>
            </a:r>
            <a:endParaRPr sz="1500"/>
          </a:p>
          <a:p>
            <a:pPr indent="-330200" lvl="0" marL="342900" rtl="0" algn="l">
              <a:spcBef>
                <a:spcPts val="595"/>
              </a:spcBef>
              <a:spcAft>
                <a:spcPts val="0"/>
              </a:spcAft>
              <a:buSzPts val="1500"/>
              <a:buChar char="▪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Transactional RPC allows many RPC calls to form a transaction. </a:t>
            </a:r>
            <a:r>
              <a:rPr i="1" lang="en-US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any of the failing or RPC call</a:t>
            </a:r>
            <a:r>
              <a:rPr i="1" lang="en-US" sz="1500">
                <a:solidFill>
                  <a:schemeClr val="dk2"/>
                </a:solidFill>
              </a:rPr>
              <a:t> will revert back all the previous calls</a:t>
            </a:r>
            <a:r>
              <a:rPr lang="en-US" sz="1500"/>
              <a:t>. </a:t>
            </a:r>
            <a:endParaRPr sz="1500"/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1. StartTransaction(), 2. RPC: Insert new order, 3. RPC: Update customer balance 4. RPC: Deduct inventory, 5.CommitTransaction()</a:t>
            </a:r>
            <a:endParaRPr sz="15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342900" rtl="0" algn="l">
              <a:spcBef>
                <a:spcPts val="595"/>
              </a:spcBef>
              <a:spcAft>
                <a:spcPts val="0"/>
              </a:spcAft>
              <a:buSzPts val="1500"/>
              <a:buChar char="▪"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Applications typically use ODBC/JDBC APIs to communicate with transaction servers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Connection conn = DriverManager.getConnection(url, user, pass);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conn.setAutoCommit(false);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Statement stmt = conn.createStatement();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stmt.executeUpdate("UPDATE accounts SET balance = balance - 100 WHERE id = 1");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stmt.executeUpdate("UPDATE accounts SET balance = balance + 100 WHERE id = 2");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conn.commit();</a:t>
            </a:r>
            <a:endParaRPr sz="1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34290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5582525" y="4639550"/>
            <a:ext cx="2312100" cy="51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with JDBC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89000" y="-1143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Transaction System Processes (Cont.)</a:t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213" y="1039091"/>
            <a:ext cx="4141787" cy="532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Transaction Server Process Structure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692458" y="1102497"/>
            <a:ext cx="775908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typical transaction server consists of </a:t>
            </a:r>
            <a:r>
              <a:rPr b="1" lang="en-US"/>
              <a:t>multiple processes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accessing </a:t>
            </a:r>
            <a:r>
              <a:rPr b="1" lang="en-US"/>
              <a:t>data in shared memory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Shared memory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contains shared data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Buffer pool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[For buffering]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Lock table </a:t>
            </a:r>
            <a:r>
              <a:rPr lang="en-US"/>
              <a:t>[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 Mechanism]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Log buffer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[Acti</a:t>
            </a:r>
            <a:r>
              <a:rPr lang="en-US"/>
              <a:t>vity Logging]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Cached query plans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(reused if same query submitted again)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1" lang="en-US"/>
              <a:t>database processes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can access shared memory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Server processes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These receive user queries (transactions), execute them and send results back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Processes may be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multithreaded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allowing a </a:t>
            </a:r>
            <a:r>
              <a:rPr lang="en-US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process to execute several user queries concurrently</a:t>
            </a:r>
            <a:endParaRPr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Typically, </a:t>
            </a:r>
            <a:r>
              <a:rPr b="1" lang="en-US"/>
              <a:t>multiple multithreaded server processes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764528" y="142043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Transaction Server Processes (Cont.)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683582" y="1108075"/>
            <a:ext cx="7785716" cy="514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Database writer process	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Output modified buffer blocks to disks continually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Log writer process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Server processes simply add log records to log record buffer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Log writer process outputs log records to stable storage.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Checkpoint process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Performs periodic checkpoints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Process monitor process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Monitors other processes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and takes recovery actions if any of the other processes fail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E.g. aborting any transactions being executed by a server process and restarting 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Transaction System Processes (Cont.)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674703" y="1102497"/>
            <a:ext cx="725356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Lock manager process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To avoid overhead of interprocess communication for lock request/grant, each database process operates directly on the lock table 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Instead of sending requests to lock manager process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lang="en-US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manager process still used for deadlock detection</a:t>
            </a:r>
            <a:endParaRPr>
              <a:solidFill>
                <a:schemeClr val="dk2"/>
              </a:solidFill>
            </a:endParaRPr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chemeClr val="dk2"/>
                </a:solidFill>
              </a:rPr>
              <a:t>To ensure that no two processes are accessing the same data structure at the same time,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databases systems implement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mutual exclusion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using either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Atomic instructions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Test-And-Set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Compare-And-Swap (CAS)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Operating system semaphores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Higher overhead than atomic instructions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Important for process synchronization and mutual exclusion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5296775" y="3727775"/>
            <a:ext cx="3759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semaphore</a:t>
            </a:r>
            <a:r>
              <a:rPr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</a:t>
            </a:r>
            <a:r>
              <a:rPr b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synchronization primitive</a:t>
            </a:r>
            <a:r>
              <a:rPr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used to </a:t>
            </a:r>
            <a:r>
              <a:rPr b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control access to shared resources</a:t>
            </a:r>
            <a:r>
              <a:rPr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a </a:t>
            </a:r>
            <a:r>
              <a:rPr b="1"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concurrent system</a:t>
            </a:r>
            <a:r>
              <a:rPr lang="en-U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like multitasking processes or threads.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wait()</a:t>
            </a:r>
            <a:r>
              <a:rPr lang="en-US" sz="1100">
                <a:solidFill>
                  <a:schemeClr val="dk1"/>
                </a:solidFill>
              </a:rPr>
              <a:t> (also called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P()</a:t>
            </a:r>
            <a:r>
              <a:rPr lang="en-US" sz="1100">
                <a:solidFill>
                  <a:schemeClr val="dk1"/>
                </a:solidFill>
              </a:rPr>
              <a:t> or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down()</a:t>
            </a:r>
            <a:r>
              <a:rPr lang="en-US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signal()</a:t>
            </a:r>
            <a:r>
              <a:rPr lang="en-US" sz="1100">
                <a:solidFill>
                  <a:schemeClr val="dk1"/>
                </a:solidFill>
              </a:rPr>
              <a:t> (also called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V()</a:t>
            </a:r>
            <a:r>
              <a:rPr lang="en-US" sz="1100">
                <a:solidFill>
                  <a:schemeClr val="dk1"/>
                </a:solidFill>
              </a:rPr>
              <a:t> or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up()</a:t>
            </a:r>
            <a:r>
              <a:rPr lang="en-US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768350" y="135080"/>
            <a:ext cx="7689850" cy="540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Atomic Instructions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692450" y="1102500"/>
            <a:ext cx="4019700" cy="5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</a:rPr>
              <a:t>Test-And-Set</a:t>
            </a:r>
            <a:r>
              <a:rPr lang="en-US"/>
              <a:t>(M)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Memory location M, initially 0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Test-and-set(M) sets M to 1, and returns old value of M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Return value 0 indicates process has acquired the mutex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Return value 1 indicates someone is already holding the mutex</a:t>
            </a:r>
            <a:endParaRPr/>
          </a:p>
          <a:p>
            <a:pPr indent="-228600" lvl="3" marL="14287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Must try again later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Release of mutex done by setting M = 0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4855150" y="1519675"/>
            <a:ext cx="3753600" cy="341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Lock variable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int M = 0;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Process trying to acquire the lock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while (TestAndSet(M) == 1) {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// Busy-wait (spinlock)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Critical section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Release the lock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 = 0;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c79a5a5df_0_21"/>
          <p:cNvSpPr txBox="1"/>
          <p:nvPr>
            <p:ph type="title"/>
          </p:nvPr>
        </p:nvSpPr>
        <p:spPr>
          <a:xfrm>
            <a:off x="768350" y="117475"/>
            <a:ext cx="76899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Atomic Instructions</a:t>
            </a:r>
            <a:endParaRPr/>
          </a:p>
        </p:txBody>
      </p:sp>
      <p:sp>
        <p:nvSpPr>
          <p:cNvPr id="155" name="Google Shape;155;g36c79a5a5df_0_21"/>
          <p:cNvSpPr txBox="1"/>
          <p:nvPr/>
        </p:nvSpPr>
        <p:spPr>
          <a:xfrm>
            <a:off x="142875" y="1122375"/>
            <a:ext cx="8315400" cy="25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Clr>
                <a:srgbClr val="002060"/>
              </a:buClr>
              <a:buSzPts val="1870"/>
              <a:buFont typeface="Noto Sans Symbols"/>
              <a:buChar char="▪"/>
            </a:pPr>
            <a:r>
              <a:rPr b="1" lang="en-US" sz="17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Compare-and-swap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(M, V1, V2)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Clr>
                <a:schemeClr val="folHlink"/>
              </a:buClr>
              <a:buSzPts val="1870"/>
              <a:buChar char="•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Atomically do following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Clr>
                <a:srgbClr val="33CC33"/>
              </a:buClr>
              <a:buSzPts val="1445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M = V1, set M = V2 and return success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Clr>
                <a:srgbClr val="33CC33"/>
              </a:buClr>
              <a:buSzPts val="1445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return failure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Clr>
                <a:schemeClr val="folHlink"/>
              </a:buClr>
              <a:buSzPts val="1870"/>
              <a:buChar char="•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M = 0 initially, CAS(M, 0, 1) equivalent to test-and-set(M)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Clr>
                <a:schemeClr val="folHlink"/>
              </a:buClr>
              <a:buSzPts val="1870"/>
              <a:buChar char="•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use CAS(M, 0, id) where id = thread-id or process-id to record who has the mutex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Servers/Data Storage Systems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701324" y="1102500"/>
            <a:ext cx="8141400" cy="5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items are shipped to clients where processing is performed. 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Instead of doing heavy computation or query processing on the </a:t>
            </a:r>
            <a:r>
              <a:rPr b="1" lang="en-US" sz="1100"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, the </a:t>
            </a:r>
            <a:r>
              <a:rPr b="1" lang="en-US" sz="1100">
                <a:latin typeface="Courier New"/>
                <a:ea typeface="Courier New"/>
                <a:cs typeface="Courier New"/>
                <a:sym typeface="Courier New"/>
              </a:rPr>
              <a:t>raw data is sent to the client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, which does the necessary processing (e.g., filtering, aggregating).This system is known as client-centric system. E.g., Edge Computing.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Updated data items written back to server.</a:t>
            </a:r>
            <a:r>
              <a:rPr lang="en-US"/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[Persistency]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369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Helvetica Neue"/>
              <a:buChar char="▪"/>
            </a:pPr>
            <a:r>
              <a:rPr lang="en-US"/>
              <a:t>Earlier generation data servers o</a:t>
            </a:r>
            <a:r>
              <a:rPr b="1" lang="en-US"/>
              <a:t>perated on disk pages, each potentially containing multiple data items, or occasionally at the level of individual items</a:t>
            </a:r>
            <a:r>
              <a:rPr lang="en-US"/>
              <a:t>. In contrast, current-generation data storage systems operate exclusively at the level of individual data items.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Current generation commonly includes: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Commonly used data item formats include JSON, XML, or just uninterpreted binary strings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768350" y="62345"/>
            <a:ext cx="76898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Servers/Storage Systems (Cont.)</a:t>
            </a:r>
            <a:endParaRPr/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701336" y="1102497"/>
            <a:ext cx="775908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Prefetching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Prefetch items that may be used soon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caching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Cache coherence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caching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Locks can be cached by client across transactions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Locks can be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called back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by the server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Adaptive lock granularity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granularity escalation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switch from finer granularity (e.g. tuple) lock to coarser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granularity de-escalation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Start with coarse granularity to redu</a:t>
            </a:r>
            <a:r>
              <a:rPr lang="en-US"/>
              <a:t>c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 overheads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switch to finer granularity in case of more concurrency conflict at server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Details in book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Servers (Cont.)</a:t>
            </a:r>
            <a:endParaRPr/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270175" y="1102500"/>
            <a:ext cx="8689500" cy="5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Caching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Data can be cached at client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even in between transactions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But check that </a:t>
            </a:r>
            <a:r>
              <a:rPr b="1" lang="en-US"/>
              <a:t>data is up-to-date before it is used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 coherency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Check can be done when requesting lock on data item</a:t>
            </a:r>
            <a:endParaRPr b="1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Caching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(not immediate rel</a:t>
            </a:r>
            <a:r>
              <a:rPr b="1" lang="en-US"/>
              <a:t>ease of the lock after transaction execution)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Locks can be retained by client system even in between transactions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Transactions can acquire cached locks locally, without contacting server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Server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calls back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locks from clients when it receives conflicting lock request.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another client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requests a lock that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conflicts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(e.g., wants to write to the same data), the server sends a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callback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to the caching client: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return the lock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Font typeface="Courier New"/>
              <a:buChar char="▪"/>
            </a:pP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If any local transaction is using it, it can not return, otherwise it returns 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55587" lvl="2" marL="108585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Client returns lock once no local transaction is using it.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/>
              <a:t>This idea is 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imilar to lock callback on prefetch, but across transactions</a:t>
            </a:r>
            <a:r>
              <a:rPr lang="en-US"/>
              <a:t>, keeping lock though the transaction has already ended. 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Systems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683581" y="1102497"/>
            <a:ext cx="754602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database systems consist of multiple processors and multiple disks connected by a fast interconnection network.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Motivation: handle workloads beyond what a single computer system can handle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 performance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processing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E.g. handling user requests at web-scale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support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on very large amounts of data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E.g. data gathered by large web sites/apps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Systems (Cont.)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701336" y="1102497"/>
            <a:ext cx="775020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coarse-grain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machine consists of a small number of powerful processors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massively parallel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grain parallel</a:t>
            </a:r>
            <a:r>
              <a:rPr i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machine utilizes thousands of smaller processors.</a:t>
            </a:r>
            <a:endParaRPr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Typically hosted in a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center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Two main performance measures: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--- the number of tasks that can be completed in a given time interval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 time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--- the amount of time it takes to complete a single task from the time it is submitted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Speed-Up and Scale-Up</a:t>
            </a:r>
            <a:endParaRPr/>
          </a:p>
        </p:txBody>
      </p:sp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701336" y="1102497"/>
            <a:ext cx="7625918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Speedup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a fixed-sized problem executing on a small system is given to a system which is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Measured by:</a:t>
            </a:r>
            <a:endParaRPr/>
          </a:p>
          <a:p>
            <a:pPr indent="0" lvl="1" marL="4572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     speedup = small system elapsed time</a:t>
            </a:r>
            <a:endParaRPr/>
          </a:p>
          <a:p>
            <a:pPr indent="0" lvl="1" marL="4572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                       large system elapsed time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Speedup is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linear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if equation equals 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Scaleup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increase the size of both the problem and the system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system used to perform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job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Measured by:</a:t>
            </a:r>
            <a:endParaRPr/>
          </a:p>
          <a:p>
            <a:pPr indent="0" lvl="1" marL="4572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     scaleup = small system small problem elapsed time</a:t>
            </a:r>
            <a:endParaRPr/>
          </a:p>
          <a:p>
            <a:pPr indent="0" lvl="1" marL="4572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                     big system big problem elapsed time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Scale up is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linear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if equation equals 1.</a:t>
            </a:r>
            <a:endParaRPr/>
          </a:p>
        </p:txBody>
      </p:sp>
      <p:cxnSp>
        <p:nvCxnSpPr>
          <p:cNvPr id="198" name="Google Shape;198;p16"/>
          <p:cNvCxnSpPr/>
          <p:nvPr/>
        </p:nvCxnSpPr>
        <p:spPr>
          <a:xfrm flipH="1" rot="10800000">
            <a:off x="2635685" y="2421082"/>
            <a:ext cx="2507815" cy="1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6"/>
          <p:cNvCxnSpPr/>
          <p:nvPr/>
        </p:nvCxnSpPr>
        <p:spPr>
          <a:xfrm flipH="1" rot="10800000">
            <a:off x="2589844" y="4533581"/>
            <a:ext cx="3883692" cy="1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Speedup</a:t>
            </a:r>
            <a:endParaRPr/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838" y="1108995"/>
            <a:ext cx="7159625" cy="49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4001025" y="3727300"/>
            <a:ext cx="4659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particular problem that does not speed up even if the presence of additional resources</a:t>
            </a:r>
            <a:endParaRPr sz="1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Scaleup</a:t>
            </a:r>
            <a:endParaRPr/>
          </a:p>
        </p:txBody>
      </p: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75" y="928688"/>
            <a:ext cx="7940675" cy="479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2447975" y="1190150"/>
            <a:ext cx="63723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 = Time scale for system coordination, communication, overhead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 = Time scale for local computation or problem solving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Batch and Transaction Scaleup</a:t>
            </a:r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701336" y="1102497"/>
            <a:ext cx="7705817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Batch scaleup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single large job; typical of most decision support queries and scientific simulation.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Use an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computer on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problem.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scaleup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Numerous small queries submitted by independent users to a shared database; typical transaction processing and timesharing systems.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as many users submitting requests (hence,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as many requests) to an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database, on an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-times larger computer.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Well-suited to parallel execution.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Factors Limiting Speedup and Scaleup</a:t>
            </a:r>
            <a:endParaRPr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683580" y="1102497"/>
            <a:ext cx="774132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Speedup and scaleup are often sublinear due to: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Startup/sequential costs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Cost of s</a:t>
            </a:r>
            <a:r>
              <a:rPr b="1" lang="en-US"/>
              <a:t>tarting up multiple processes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1" lang="en-US"/>
              <a:t>sequential computation before/after parallel computation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May dominate </a:t>
            </a:r>
            <a:r>
              <a:rPr b="1" lang="en-US"/>
              <a:t>computation time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if the </a:t>
            </a:r>
            <a:r>
              <a:rPr b="1" lang="en-US"/>
              <a:t>degree of parallelism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is high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Suppose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fraction of computation </a:t>
            </a:r>
            <a:r>
              <a:rPr lang="en-US"/>
              <a:t>can be </a:t>
            </a:r>
            <a:r>
              <a:rPr lang="en-US"/>
              <a:t>parallelized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So, (1-</a:t>
            </a:r>
            <a:r>
              <a:rPr lang="en-US"/>
              <a:t>p) fraction of the computation must be run sequentially. 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Amdahl’s law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   speedup limited to:  1 / [(1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-p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)+(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p/n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)]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Gustafson’s law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scaleup limited to: </a:t>
            </a:r>
            <a:r>
              <a:rPr lang="en-US"/>
              <a:t>(1-p) + np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Interference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 Processes accessing shared resources (e.g.,system bus, disks, or locks) </a:t>
            </a:r>
            <a:r>
              <a:rPr b="1" lang="en-US"/>
              <a:t>compete with each other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thus spending time </a:t>
            </a:r>
            <a:r>
              <a:rPr b="1" lang="en-US"/>
              <a:t>waiting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on other processes, rather than performing useful work.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Skew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I</a:t>
            </a:r>
            <a:r>
              <a:rPr lang="en-US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ncreasing the degree of parallelism increases the variance in service times of parallely executing tasks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 Overall execution time determined by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slowest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of parallely executing tasks.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986062" y="262752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bf5fe6ea5_0_0"/>
          <p:cNvSpPr txBox="1"/>
          <p:nvPr>
            <p:ph type="title"/>
          </p:nvPr>
        </p:nvSpPr>
        <p:spPr>
          <a:xfrm>
            <a:off x="768350" y="117475"/>
            <a:ext cx="76899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74295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2060"/>
                </a:solidFill>
              </a:rPr>
              <a:t>Amdahl’s law</a:t>
            </a:r>
            <a:r>
              <a:rPr b="0" lang="en-US" sz="1700">
                <a:solidFill>
                  <a:schemeClr val="dk1"/>
                </a:solidFill>
              </a:rPr>
              <a:t>:    speedup limited to:  1 / [(1</a:t>
            </a:r>
            <a:r>
              <a:rPr b="0" i="1" lang="en-US" sz="1700">
                <a:solidFill>
                  <a:schemeClr val="dk1"/>
                </a:solidFill>
              </a:rPr>
              <a:t>-p</a:t>
            </a:r>
            <a:r>
              <a:rPr b="0" lang="en-US" sz="1700">
                <a:solidFill>
                  <a:schemeClr val="dk1"/>
                </a:solidFill>
              </a:rPr>
              <a:t>)+(</a:t>
            </a:r>
            <a:r>
              <a:rPr b="0" i="1" lang="en-US" sz="1700">
                <a:solidFill>
                  <a:schemeClr val="dk1"/>
                </a:solidFill>
              </a:rPr>
              <a:t>p/n</a:t>
            </a:r>
            <a:r>
              <a:rPr b="0" lang="en-US" sz="1700">
                <a:solidFill>
                  <a:schemeClr val="dk1"/>
                </a:solidFill>
              </a:rPr>
              <a:t>)] </a:t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37" name="Google Shape;237;g36bf5fe6ea5_0_0"/>
          <p:cNvSpPr txBox="1"/>
          <p:nvPr>
            <p:ph idx="1" type="body"/>
          </p:nvPr>
        </p:nvSpPr>
        <p:spPr>
          <a:xfrm>
            <a:off x="331725" y="1093800"/>
            <a:ext cx="8638200" cy="539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/>
              <a:t>Purpose: Amdahl's Law calculates the </a:t>
            </a:r>
            <a:r>
              <a:rPr b="1" lang="en-US"/>
              <a:t>maximum theoretical speedup</a:t>
            </a:r>
            <a:r>
              <a:rPr lang="en-US"/>
              <a:t> of a program </a:t>
            </a:r>
            <a:r>
              <a:rPr b="1" lang="en-US"/>
              <a:t>when increasing the number of processors for a fixed problem size</a:t>
            </a:r>
            <a:r>
              <a:rPr lang="en-US"/>
              <a:t>. It assumes that</a:t>
            </a:r>
            <a:r>
              <a:rPr b="1" lang="en-US"/>
              <a:t> the total amount of work remains constant regardless of the number of processors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Total Time with Parallelism: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New execution time = (Time for serial part) + (Time for parallel part on n processors)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New execution time = (1−p)×1+(p)×(1/n)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New execution time = (1−p)+(p/n)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Speedup Calculation:</a:t>
            </a:r>
            <a:r>
              <a:rPr lang="en-US"/>
              <a:t> Speedup is defined as: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S=Original Execution Time/New Execution Time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Since we normalized original time to 1,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/>
              <a:t>S=1/[(1−p)+(p/n)]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bf5fe6ea5_0_11"/>
          <p:cNvSpPr txBox="1"/>
          <p:nvPr>
            <p:ph type="title"/>
          </p:nvPr>
        </p:nvSpPr>
        <p:spPr>
          <a:xfrm>
            <a:off x="768350" y="117475"/>
            <a:ext cx="76899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74295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2060"/>
                </a:solidFill>
              </a:rPr>
              <a:t>Gustafson’s law</a:t>
            </a:r>
            <a:r>
              <a:rPr b="0" lang="en-US" sz="1700">
                <a:solidFill>
                  <a:schemeClr val="dk1"/>
                </a:solidFill>
              </a:rPr>
              <a:t>: scaleup limited to: (1-p) + np </a:t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4" name="Google Shape;244;g36bf5fe6ea5_0_11"/>
          <p:cNvSpPr txBox="1"/>
          <p:nvPr>
            <p:ph idx="1" type="body"/>
          </p:nvPr>
        </p:nvSpPr>
        <p:spPr>
          <a:xfrm>
            <a:off x="167500" y="1093800"/>
            <a:ext cx="8769600" cy="533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Gustafson's Law calculates the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scaled speedup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for a parallel system where the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problem size scales with the number of processors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 It addresses the limitation of Amdahl's Law by assuming that as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you add more processors, you also solve a </a:t>
            </a:r>
            <a:r>
              <a:rPr b="1" i="1" lang="en-US" sz="1300">
                <a:latin typeface="Arial"/>
                <a:ea typeface="Arial"/>
                <a:cs typeface="Arial"/>
                <a:sym typeface="Arial"/>
              </a:rPr>
              <a:t>larger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 problem in roughly the same amount of time.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Workload Scales with Processors: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The core idea here is that if you have more processors, you'll tackle a proportionally larger problem.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Assume that the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parallel part of the program scales linearly with n processors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Let the time taken by the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parallel portion on a single processor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be p.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Let the time taken by the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serial portion on a single processor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be (1−p).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The total time on a single processor for the </a:t>
            </a: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scaled problem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would be (1−p)+n×p (because the parallel part is now n times larger for the n processors).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Time on n Processors: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On n processors, the serial part still takes (1−p) time. The scaled parallel part, which took n×p on a single processor, now takes just p time on n processors (since it's distributed among them).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Total time on n processors = (1−p)+p=1. (This is the key assumption of Gustafson's Law: you scale the problem size such that the execution time on n processors is approximately the same as the original problem on 1 processor).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Speedup Calculation: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Speedup is defined as: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S=Original Execution Time (scaled problem on 1 processor)/New Execution Time (scaled problem on n processors)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S=[(1−p)+np]/1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S=(1−p)+np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Interconnection Network Architectures</a:t>
            </a:r>
            <a:endParaRPr/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674702" y="1102497"/>
            <a:ext cx="7785717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System components send data on and receive data from a single communication bus;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Does not scale well with increasing parallelism.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Mesh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Components are arranged as nodes in a grid, and each component is connected to all adjacent components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Communication links grow with growing number of components, and so scales better.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But may require 2√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hops to send message to a node (or √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with wraparound connections at edge of grid).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Hypercube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 Components are numbered in binary;  components are connected to one another if their binary representations differ in exactly one bit.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components are connected to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log(n)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other components and can reach each other via at most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log(n)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links; reduces communication delays.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Tree-like Topology</a:t>
            </a:r>
            <a:r>
              <a:rPr lang="en-US">
                <a:solidFill>
                  <a:srgbClr val="0000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1" lang="en-US">
                <a:solidFill>
                  <a:srgbClr val="0000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Widely used in data centers today</a:t>
            </a:r>
            <a:endParaRPr b="1">
              <a:solidFill>
                <a:srgbClr val="0000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4155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768350" y="173038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Interconnection Architectures</a:t>
            </a:r>
            <a:endParaRPr/>
          </a:p>
        </p:txBody>
      </p:sp>
      <p:pic>
        <p:nvPicPr>
          <p:cNvPr descr="20_04.pdf" id="258" name="Google Shape;258;p22"/>
          <p:cNvPicPr preferRelativeResize="0"/>
          <p:nvPr/>
        </p:nvPicPr>
        <p:blipFill rotWithShape="1">
          <a:blip r:embed="rId3">
            <a:alphaModFix/>
          </a:blip>
          <a:srcRect b="40532" l="0" r="0" t="0"/>
          <a:stretch/>
        </p:blipFill>
        <p:spPr>
          <a:xfrm>
            <a:off x="803354" y="1382713"/>
            <a:ext cx="7455122" cy="4986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Interconnection Network Architectures</a:t>
            </a:r>
            <a:endParaRPr/>
          </a:p>
        </p:txBody>
      </p:sp>
      <p:sp>
        <p:nvSpPr>
          <p:cNvPr id="265" name="Google Shape;265;p23"/>
          <p:cNvSpPr txBox="1"/>
          <p:nvPr>
            <p:ph idx="1" type="body"/>
          </p:nvPr>
        </p:nvSpPr>
        <p:spPr>
          <a:xfrm>
            <a:off x="693502" y="1093788"/>
            <a:ext cx="8007736" cy="2862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Tree-like or Fat-Tree Topology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widely used in data centers today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 of rack switch for approx 40 machines in rack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top of rack switch connected to multiple aggregation switches.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 switches connect to multiple core switches.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center fabric</a:t>
            </a:r>
            <a:endParaRPr/>
          </a:p>
        </p:txBody>
      </p:sp>
      <p:pic>
        <p:nvPicPr>
          <p:cNvPr id="266" name="Google Shape;266;p23"/>
          <p:cNvPicPr preferRelativeResize="0"/>
          <p:nvPr/>
        </p:nvPicPr>
        <p:blipFill rotWithShape="1">
          <a:blip r:embed="rId3">
            <a:alphaModFix/>
          </a:blip>
          <a:srcRect b="418" l="0" r="0" t="0"/>
          <a:stretch/>
        </p:blipFill>
        <p:spPr>
          <a:xfrm>
            <a:off x="2494643" y="2701821"/>
            <a:ext cx="5192376" cy="324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Technologies </a:t>
            </a:r>
            <a:endParaRPr/>
          </a:p>
        </p:txBody>
      </p:sp>
      <p:sp>
        <p:nvSpPr>
          <p:cNvPr id="272" name="Google Shape;272;p24"/>
          <p:cNvSpPr txBox="1"/>
          <p:nvPr>
            <p:ph idx="1" type="body"/>
          </p:nvPr>
        </p:nvSpPr>
        <p:spPr>
          <a:xfrm>
            <a:off x="683580" y="1102497"/>
            <a:ext cx="7466121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Ethernet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1 Gbps and 10 Gbps common, 40 Gbps and 100 Gbps are available at higher cost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Fiber Channel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32-138 Gbps available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Infiniband</a:t>
            </a:r>
            <a:endParaRPr b="1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very-low-latency networking technology 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0.5 to 0.7 microseconds, compared to a few microseconds for optimized ethernet</a:t>
            </a:r>
            <a:endParaRPr/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/>
          <p:nvPr>
            <p:ph type="title"/>
          </p:nvPr>
        </p:nvSpPr>
        <p:spPr>
          <a:xfrm>
            <a:off x="768350" y="3174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Parallel Database Architectures</a:t>
            </a:r>
            <a:endParaRPr/>
          </a:p>
        </p:txBody>
      </p:sp>
      <p:pic>
        <p:nvPicPr>
          <p:cNvPr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125" y="952500"/>
            <a:ext cx="7956550" cy="544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Shared Memory</a:t>
            </a:r>
            <a:endParaRPr/>
          </a:p>
        </p:txBody>
      </p:sp>
      <p:sp>
        <p:nvSpPr>
          <p:cNvPr id="286" name="Google Shape;286;p26"/>
          <p:cNvSpPr txBox="1"/>
          <p:nvPr>
            <p:ph idx="1" type="body"/>
          </p:nvPr>
        </p:nvSpPr>
        <p:spPr>
          <a:xfrm>
            <a:off x="674702" y="1102497"/>
            <a:ext cx="471836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Processors (or processor cores) and disks have access to a common memory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Via a bus in earlier days, through an interconnection network today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Extremely efficient communication between processors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Downside: </a:t>
            </a:r>
            <a:r>
              <a:rPr b="1" lang="en-US"/>
              <a:t>shared-memory architecture is not scalable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beyond 64 to 128 processor cores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Memory interconnection network becomes a bottleneck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7" name="Google Shape;287;p26"/>
          <p:cNvPicPr preferRelativeResize="0"/>
          <p:nvPr/>
        </p:nvPicPr>
        <p:blipFill rotWithShape="1">
          <a:blip r:embed="rId3">
            <a:alphaModFix/>
          </a:blip>
          <a:srcRect b="53600" l="0" r="59268" t="0"/>
          <a:stretch/>
        </p:blipFill>
        <p:spPr>
          <a:xfrm>
            <a:off x="5826205" y="1585674"/>
            <a:ext cx="3240793" cy="252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Shared Memory Architecture</a:t>
            </a:r>
            <a:endParaRPr/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551" y="1262270"/>
            <a:ext cx="8294898" cy="460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/>
          <p:nvPr/>
        </p:nvSpPr>
        <p:spPr>
          <a:xfrm>
            <a:off x="118250" y="2125050"/>
            <a:ext cx="4204200" cy="1593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446700" y="1517425"/>
            <a:ext cx="2906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 local memory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118250" y="4987150"/>
            <a:ext cx="35472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through X or interconnection any processor can share other’s memory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Levels</a:t>
            </a:r>
            <a:endParaRPr/>
          </a:p>
        </p:txBody>
      </p:sp>
      <p:sp>
        <p:nvSpPr>
          <p:cNvPr id="302" name="Google Shape;302;p28"/>
          <p:cNvSpPr txBox="1"/>
          <p:nvPr>
            <p:ph idx="1" type="body"/>
          </p:nvPr>
        </p:nvSpPr>
        <p:spPr>
          <a:xfrm>
            <a:off x="665824" y="1102497"/>
            <a:ext cx="8179725" cy="1130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Cache line: typically 64 bytes in today’s processors, the smallest unit </a:t>
            </a:r>
            <a:r>
              <a:rPr lang="en-US"/>
              <a:t>of data which i s transferred between RAM (main memory) and CPU caches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Cache levels within a single multi-core processor 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 b="1">
              <a:solidFill>
                <a:srgbClr val="0000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3" name="Google Shape;3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2164" y="2233045"/>
            <a:ext cx="4099670" cy="220068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639190" y="4785164"/>
            <a:ext cx="7883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memory system can have multiple processors, each with its own cache levels</a:t>
            </a:r>
            <a:endParaRPr/>
          </a:p>
          <a:p>
            <a:pPr indent="-224155" lvl="0" marL="342900" marR="0" rtl="0" algn="l">
              <a:spcBef>
                <a:spcPts val="595"/>
              </a:spcBef>
              <a:spcAft>
                <a:spcPts val="0"/>
              </a:spcAft>
              <a:buClr>
                <a:srgbClr val="002060"/>
              </a:buClr>
              <a:buSzPts val="1870"/>
              <a:buFont typeface="Noto Sans Symbols"/>
              <a:buNone/>
            </a:pPr>
            <a:r>
              <a:t/>
            </a:r>
            <a:endParaRPr b="1" sz="1700">
              <a:solidFill>
                <a:srgbClr val="0000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Coherency</a:t>
            </a:r>
            <a:endParaRPr/>
          </a:p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674703" y="1102497"/>
            <a:ext cx="775908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Cache coherency: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Local cache </a:t>
            </a:r>
            <a:r>
              <a:rPr b="1" lang="en-US"/>
              <a:t>may have out of date value</a:t>
            </a:r>
            <a:endParaRPr b="1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Strong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vs </a:t>
            </a:r>
            <a:r>
              <a:rPr b="1" lang="en-US"/>
              <a:t>weak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consistency models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With weak consistency, need special instructions to ensure cache is up to date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Memory barrier instructions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 barrier (sfence)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Instruction returns after forcing cached data to be written to memory and invalidations sent to all caches. 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An </a:t>
            </a:r>
            <a:r>
              <a:rPr lang="en-U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sfence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instruction ensures that all </a:t>
            </a:r>
            <a:r>
              <a:rPr b="1" lang="en-US" sz="1100">
                <a:latin typeface="Courier New"/>
                <a:ea typeface="Courier New"/>
                <a:cs typeface="Courier New"/>
                <a:sym typeface="Courier New"/>
              </a:rPr>
              <a:t>write (store)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operations initiated </a:t>
            </a:r>
            <a:r>
              <a:rPr i="1" lang="en-US" sz="1100"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the </a:t>
            </a:r>
            <a:r>
              <a:rPr lang="en-US" sz="11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sfence</a:t>
            </a: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instruction are completed and made globally visible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 barrier (lfence)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Returns after ensuring all pending cache invalidations are processed.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lfence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instruction ensures that all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read (load)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operations initiated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lfence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instruction are completed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any read operations initiated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lfence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instruction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</a:rPr>
              <a:t>mfence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instruction does both of above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Locking code usually takes care of barrier instructions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Lfence done after lock acquisition and sfence done before lock release</a:t>
            </a:r>
            <a:endParaRPr/>
          </a:p>
          <a:p>
            <a:pPr indent="-136842" lvl="2" marL="1085850" rtl="0" algn="l">
              <a:spcBef>
                <a:spcPts val="595"/>
              </a:spcBef>
              <a:spcAft>
                <a:spcPts val="0"/>
              </a:spcAft>
              <a:buSzPts val="1445"/>
              <a:buNone/>
            </a:pPr>
            <a:r>
              <a:t/>
            </a:r>
            <a:endParaRPr b="1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 b="1">
              <a:solidFill>
                <a:srgbClr val="0000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866075" y="1030675"/>
            <a:ext cx="2857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Buffer -&gt; cache -&gt; main memory -&gt; disk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Shared Disk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674702" y="1102497"/>
            <a:ext cx="4234181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All processors can directly access all disks via an interconnection network, but the processors have private memories.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Architecture provides a degree of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fault-tolerance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— if a processor fails, the other processors can take over its tasks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data of the failed processor is resident on disks that are accessible from all processors.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Downside: bottleneck now occurs at interconnection to the disk subsystem.</a:t>
            </a:r>
            <a:endParaRPr/>
          </a:p>
        </p:txBody>
      </p:sp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54308" l="45849" r="12450" t="-708"/>
          <a:stretch/>
        </p:blipFill>
        <p:spPr>
          <a:xfrm>
            <a:off x="5524901" y="1585674"/>
            <a:ext cx="3619099" cy="27535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30"/>
          <p:cNvCxnSpPr/>
          <p:nvPr/>
        </p:nvCxnSpPr>
        <p:spPr>
          <a:xfrm flipH="1" rot="10800000">
            <a:off x="4125300" y="3668700"/>
            <a:ext cx="3481500" cy="14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0"/>
          <p:cNvSpPr txBox="1"/>
          <p:nvPr/>
        </p:nvSpPr>
        <p:spPr>
          <a:xfrm>
            <a:off x="4470175" y="5261750"/>
            <a:ext cx="385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 much processor / too much disk connectivity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>
            <p:ph type="title"/>
          </p:nvPr>
        </p:nvSpPr>
        <p:spPr>
          <a:xfrm>
            <a:off x="787601" y="43078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Area Network (SAN)</a:t>
            </a:r>
            <a:endParaRPr/>
          </a:p>
        </p:txBody>
      </p:sp>
      <p:pic>
        <p:nvPicPr>
          <p:cNvPr id="327" name="Google Shape;3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1891" y="1109709"/>
            <a:ext cx="6175393" cy="4104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Shared Nothing</a:t>
            </a:r>
            <a:endParaRPr/>
          </a:p>
        </p:txBody>
      </p:sp>
      <p:sp>
        <p:nvSpPr>
          <p:cNvPr id="334" name="Google Shape;334;p32"/>
          <p:cNvSpPr txBox="1"/>
          <p:nvPr>
            <p:ph idx="1" type="body"/>
          </p:nvPr>
        </p:nvSpPr>
        <p:spPr>
          <a:xfrm>
            <a:off x="701336" y="1102497"/>
            <a:ext cx="409204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Node consists of a processor, memory, and one or more disks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All communication via interconnection network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Can be scaled up to thousands of processors without interference.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Main drawback: cost of communication and non-local disk access; sending data involves software interaction at both ends.</a:t>
            </a:r>
            <a:endParaRPr/>
          </a:p>
        </p:txBody>
      </p:sp>
      <p:pic>
        <p:nvPicPr>
          <p:cNvPr id="335" name="Google Shape;335;p32"/>
          <p:cNvPicPr preferRelativeResize="0"/>
          <p:nvPr/>
        </p:nvPicPr>
        <p:blipFill rotWithShape="1">
          <a:blip r:embed="rId3">
            <a:alphaModFix/>
          </a:blip>
          <a:srcRect b="-2460" l="-8272" r="66571" t="51074"/>
          <a:stretch/>
        </p:blipFill>
        <p:spPr>
          <a:xfrm>
            <a:off x="5226451" y="1540043"/>
            <a:ext cx="3619099" cy="3049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Hierarchical</a:t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701336" y="1102497"/>
            <a:ext cx="7813288" cy="2326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Combines characteristics of shared-memory, shared-disk, and shared-nothing architectures.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Top level is a shared-nothing architecture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With each node of the system being a shared-memory system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Alternatively, top level could be a shared-disk system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With each node of the system being a shared-memory system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/>
          </a:blip>
          <a:srcRect b="-4112" l="30796" r="-1110" t="53301"/>
          <a:stretch/>
        </p:blipFill>
        <p:spPr>
          <a:xfrm>
            <a:off x="1386038" y="3455267"/>
            <a:ext cx="6102419" cy="301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Shared-Memory Vs Shared-Nothing</a:t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692458" y="1102497"/>
            <a:ext cx="780347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Shared-memory internally looks like shared-nothing!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Each processor has direct access to its own memory, and indirect (hardware level) access to rest of memory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Also called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non-uniform memory architecture (NUMA)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Shared-nothing can be made to look like shared memory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Reduce the complexity of programming such systems by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virtual-memory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abstraction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Remote Direct Memory Access (RDMA)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provides very low-latency shared memory abstraction on shared-nothing systems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Often implemented on top of i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nfiniband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due it its very-low-latency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But careless programming can lead to performance issues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Distributed Systems</a:t>
            </a:r>
            <a:endParaRPr/>
          </a:p>
        </p:txBody>
      </p:sp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692458" y="1102497"/>
            <a:ext cx="771469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spread over multiple machines (also referred to as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sites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Local-area networks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Wide-area networks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Higher latency</a:t>
            </a:r>
            <a:endParaRPr/>
          </a:p>
        </p:txBody>
      </p:sp>
      <p:pic>
        <p:nvPicPr>
          <p:cNvPr id="357" name="Google Shape;3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765" y="2546585"/>
            <a:ext cx="4460167" cy="3085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Distributed Databases</a:t>
            </a:r>
            <a:endParaRPr/>
          </a:p>
        </p:txBody>
      </p:sp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683580" y="1102497"/>
            <a:ext cx="768806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Homogeneous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databases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Same software/schema on all sites, data may be partitioned among sites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Goal: provide a view of a single database, hiding details of distribution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Heterogeneous distributed databases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Different software/schema on different sites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Goal: integrate existing databases to provide useful functionality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Differentiate between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transactions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transactions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transaction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accesses data in the </a:t>
            </a: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single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site at which the transaction was initiated.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transaction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either accesses data in a site different from the one at which the transaction was initiated or accesses data in several different sites.</a:t>
            </a:r>
            <a:endParaRPr/>
          </a:p>
          <a:p>
            <a:pPr indent="-224155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7"/>
          <p:cNvSpPr txBox="1"/>
          <p:nvPr>
            <p:ph type="title"/>
          </p:nvPr>
        </p:nvSpPr>
        <p:spPr>
          <a:xfrm>
            <a:off x="768350" y="492897"/>
            <a:ext cx="8077200" cy="2173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Integration and Distributed Databases</a:t>
            </a:r>
            <a:endParaRPr/>
          </a:p>
        </p:txBody>
      </p:sp>
      <p:sp>
        <p:nvSpPr>
          <p:cNvPr id="371" name="Google Shape;371;p37"/>
          <p:cNvSpPr txBox="1"/>
          <p:nvPr>
            <p:ph idx="1" type="body"/>
          </p:nvPr>
        </p:nvSpPr>
        <p:spPr>
          <a:xfrm>
            <a:off x="674703" y="1047565"/>
            <a:ext cx="7759084" cy="5422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integration between multiple distributed databases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Benefits: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Sharing data – users at one site able to access the data residing at some other sites.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university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has a distributed database: one part stores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student records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, another stores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financial information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, and a third stores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library data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, each on different servers or campuses.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A student advisor can pull data from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all three databases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through a single query interface — even though the data is stored on different systems.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Autonomy – each site is able to retain a degree of control over data stored locally.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9392" lvl="2" marL="1085850" rtl="0" algn="l">
              <a:spcBef>
                <a:spcPts val="595"/>
              </a:spcBef>
              <a:spcAft>
                <a:spcPts val="0"/>
              </a:spcAft>
              <a:buSzPts val="1300"/>
              <a:buChar char="▪"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 a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supply chain network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, each company (manufacturer, distributor, retailer) maintains its own database.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219392" lvl="2" marL="1085850" rtl="0" algn="l">
              <a:spcBef>
                <a:spcPts val="595"/>
              </a:spcBef>
              <a:spcAft>
                <a:spcPts val="0"/>
              </a:spcAft>
              <a:buSzPts val="1300"/>
              <a:buChar char="▪"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They integrate their systems for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inventory tracking or order management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, but each company still decides how its database is structured, who can access it, and how updates are made.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Availability</a:t>
            </a:r>
            <a:endParaRPr/>
          </a:p>
        </p:txBody>
      </p:sp>
      <p:sp>
        <p:nvSpPr>
          <p:cNvPr id="377" name="Google Shape;377;p38"/>
          <p:cNvSpPr txBox="1"/>
          <p:nvPr>
            <p:ph idx="1" type="body"/>
          </p:nvPr>
        </p:nvSpPr>
        <p:spPr>
          <a:xfrm>
            <a:off x="665825" y="1102497"/>
            <a:ext cx="772357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</a:t>
            </a:r>
            <a:r>
              <a:rPr b="1" lang="en-US">
                <a:solidFill>
                  <a:srgbClr val="002060"/>
                </a:solidFill>
              </a:rPr>
              <a:t>P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artitioning: 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network partition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occurs when </a:t>
            </a: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communication between parts of a distributed system is disrupted</a:t>
            </a: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— nodes are split into isolated "partitions" that can't talk to each other, even though they may still be running.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of system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7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If all nodes are required for system to function, failure of even one node stops system functioning.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Higher system availability through redundancy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can be replicated at remote sites, and system can function even if a site fails.</a:t>
            </a:r>
            <a:endParaRPr/>
          </a:p>
          <a:p>
            <a:pPr indent="-234950" lvl="0" marL="342900" rtl="0" algn="l">
              <a:spcBef>
                <a:spcPts val="595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>
            <p:ph type="title"/>
          </p:nvPr>
        </p:nvSpPr>
        <p:spPr>
          <a:xfrm>
            <a:off x="768350" y="492897"/>
            <a:ext cx="8077200" cy="642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Implementation Issues for Distributed Databases </a:t>
            </a:r>
            <a:endParaRPr/>
          </a:p>
        </p:txBody>
      </p:sp>
      <p:sp>
        <p:nvSpPr>
          <p:cNvPr id="384" name="Google Shape;384;p39"/>
          <p:cNvSpPr txBox="1"/>
          <p:nvPr>
            <p:ph idx="1" type="body"/>
          </p:nvPr>
        </p:nvSpPr>
        <p:spPr>
          <a:xfrm>
            <a:off x="692458" y="1391477"/>
            <a:ext cx="7821227" cy="50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Atomicity needed even for transactions that update data at multiple sites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two-phase commit protocol (2PC)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is used to ensure atomicity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Basic idea:  each site executes transaction until just before commit, and the leaves final decision to a coordinator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Each site must follow decision of coordinator, even if there is a failure while waiting for coordinators decision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2PC is not always appropriate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:  other transaction models based on persistent messaging, and workflows, are also used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Distributed concurrency control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(and deadlock detection) required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Data items may be</a:t>
            </a:r>
            <a:r>
              <a:rPr b="1" lang="en-US"/>
              <a:t> replicated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to improve data availability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Details of all above in Chapter 24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Cloud Based Services</a:t>
            </a:r>
            <a:endParaRPr/>
          </a:p>
        </p:txBody>
      </p:sp>
      <p:sp>
        <p:nvSpPr>
          <p:cNvPr id="390" name="Google Shape;390;p40"/>
          <p:cNvSpPr txBox="1"/>
          <p:nvPr>
            <p:ph idx="1" type="body"/>
          </p:nvPr>
        </p:nvSpPr>
        <p:spPr>
          <a:xfrm>
            <a:off x="701336" y="1102497"/>
            <a:ext cx="775908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Cloud computing widely adopted today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On-demand provisioning and </a:t>
            </a:r>
            <a:r>
              <a:rPr b="1" lang="en-US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elasticity (Memory increase, processor increase)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ability to scale up at short notice and to release of unused resources for use by others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Infrastructure as a service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Virtual machines/real machines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Platform as a service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Storage, databases, application server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Software as a service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Enterprise applications, emails, shared documents, etc,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Potential drawbacks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Security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Network bandwidth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Cloud Service Models</a:t>
            </a:r>
            <a:endParaRPr/>
          </a:p>
        </p:txBody>
      </p:sp>
      <p:pic>
        <p:nvPicPr>
          <p:cNvPr descr="21_10-eps-converted-to.pdf"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093" y="727075"/>
            <a:ext cx="4518734" cy="5652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768350" y="117475"/>
            <a:ext cx="778084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Deployment Alternatives</a:t>
            </a:r>
            <a:endParaRPr/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220" y="1646582"/>
            <a:ext cx="8642380" cy="356483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2"/>
          <p:cNvSpPr txBox="1"/>
          <p:nvPr/>
        </p:nvSpPr>
        <p:spPr>
          <a:xfrm>
            <a:off x="510139" y="5727032"/>
            <a:ext cx="833541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Individual Machines                       Virtual Machines                         Containers</a:t>
            </a:r>
            <a:b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(e.g. VMWare, KVM, ..)                (e.g. Docker)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768350" y="117475"/>
            <a:ext cx="7689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Deployment Architectures</a:t>
            </a:r>
            <a:endParaRPr/>
          </a:p>
        </p:txBody>
      </p:sp>
      <p:sp>
        <p:nvSpPr>
          <p:cNvPr id="409" name="Google Shape;409;p43"/>
          <p:cNvSpPr txBox="1"/>
          <p:nvPr>
            <p:ph idx="1" type="body"/>
          </p:nvPr>
        </p:nvSpPr>
        <p:spPr>
          <a:xfrm>
            <a:off x="701336" y="1102497"/>
            <a:ext cx="814421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Services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Microservice Architecture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Application uses a variety of services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Service can add or remove instances as required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Kubernetes supports containers, and microservices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End of Chapter 20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2009-12-21T15:40:22Z</dcterms:created>
  <dc:creator>Marilyn Turnamian</dc:creator>
</cp:coreProperties>
</file>